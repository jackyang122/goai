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10528"/>
            <a:ext cx="11475720" cy="0"/>
          </a:xfrm>
          <a:prstGeom prst="line">
            <a:avLst/>
          </a:prstGeom>
          <a:noFill/>
          <a:ln w="12700">
            <a:solidFill>
              <a:srgbClr val="E3E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6539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291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GOAI 无界应用｜Boundless Agents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9326880" y="65653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8291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 Learning OS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498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 Learning 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399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Learner State 的个性化学习 Agent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66928" y="19933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GOAI 无界应用｜Boundless Agents 作品简介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面向中学生的 AI 原生个人学习工作台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1051560" cy="292608"/>
          </a:xfrm>
          <a:prstGeom prst="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AI+教育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64792" y="2880360"/>
            <a:ext cx="1234440" cy="292608"/>
          </a:xfrm>
          <a:prstGeom prst="rect">
            <a:avLst/>
          </a:prstGeom>
          <a:solidFill>
            <a:srgbClr val="E9F8F1"/>
          </a:solidFill>
          <a:ln>
            <a:solidFill>
              <a:srgbClr val="E9F8F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B5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学生端 MVP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63824" y="2880360"/>
            <a:ext cx="1645920" cy="292608"/>
          </a:xfrm>
          <a:prstGeom prst="rect">
            <a:avLst/>
          </a:prstGeom>
          <a:solidFill>
            <a:srgbClr val="F2F0FF"/>
          </a:solidFill>
          <a:ln>
            <a:solidFill>
              <a:srgbClr val="F2F0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5C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Agent + Skills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53218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团队名称：待填写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成员信息：待填写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提交日期：待填写</a:t>
            </a:r>
            <a:endParaRPr lang="en-US" sz="1150" dirty="0"/>
          </a:p>
        </p:txBody>
      </p:sp>
      <p:pic>
        <p:nvPicPr>
          <p:cNvPr id="9" name="Image 0" descr="/mnt/data/a_clean_ui_dashboard_screenshot_mockup_with_a_li.png">    </p:cNvPr>
          <p:cNvPicPr>
            <a:picLocks noChangeAspect="1"/>
          </p:cNvPicPr>
          <p:nvPr/>
        </p:nvPicPr>
        <p:blipFill>
          <a:blip r:embed="rId1"/>
          <a:srcRect l="19022" r="19022" t="0" b="0"/>
          <a:stretch/>
        </p:blipFill>
        <p:spPr>
          <a:xfrm>
            <a:off x="5715000" y="502920"/>
            <a:ext cx="5989320" cy="5440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附录 A 建议结构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项目一页纸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项目名称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2514600" y="1170432"/>
            <a:ext cx="9052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 Learning OS - 基于学习状态闭环的个性化学习 Agent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9659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团队名称与成员信息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514600" y="1554480"/>
            <a:ext cx="90525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待填写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选择赛题与目标场景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514600" y="1938528"/>
            <a:ext cx="9052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AI+教育｜中学生课后学习与作业辅导场景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19659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目标用户与核心问题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514600" y="2322576"/>
            <a:ext cx="90525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初中学生；不知道每天该学什么、做错题不知道真正原因、AI容易直接给答案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48640" y="2706624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方案概述与核心流程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514600" y="2706624"/>
            <a:ext cx="9052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首页计划 - 学习阅读+Chat - 作业答疑+批改 - 错因诊断 - 个性化讲解 - 掌握验证 - 状态更新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48640" y="3090672"/>
            <a:ext cx="19659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架构与关键能力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514600" y="3090672"/>
            <a:ext cx="90525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Unified Learning Agent + Skills；Learner State、诊断式反馈、上下文讲解、证据化掌握度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数据来源、工具调用与技术路线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514600" y="3474720"/>
            <a:ext cx="9052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教材/讲义/题库/学习记录；RAG、题目解析、批改、计划生成、Mastery Engine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48640" y="3858768"/>
            <a:ext cx="19659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运行结果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514600" y="3858768"/>
            <a:ext cx="90525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待填写：Demo 视频链接、运行截图、Pre/Post 指标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48640" y="4242816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安全合规边界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514600" y="4242816"/>
            <a:ext cx="9052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不代写作业；默认分层提示；未成年人数据最小化；不做摄像头持续监控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48640" y="4626864"/>
            <a:ext cx="19659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 / 复用贡献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2514600" y="4626864"/>
            <a:ext cx="9052560" cy="347472"/>
          </a:xfrm>
          <a:prstGeom prst="rect">
            <a:avLst/>
          </a:prstGeom>
          <a:solidFill>
            <a:srgbClr val="F4F8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Learner State Schema、教育 Skills 模板、学习闭环评测样例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48640" y="5010912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后续计划与对接需求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14600" y="5010912"/>
            <a:ext cx="9052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待填写：模型/算力/课程资源/渠道/合作学校或机构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用户与场景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目标用户与核心问题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834640" cy="13716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核心用户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初中学生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12-15 岁｜课后学习｜数学优先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2834640" cy="105156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付费决策者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家长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关注真实进步、错因、学习习惯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4224528"/>
            <a:ext cx="2834640" cy="1051560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协同角色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 / 机构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后续使用班级学情和分层教学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8620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55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当前痛点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627632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不知道今天该学什么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任务分散、复习无优先级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627632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做错题只知道答案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不知道是真不会、粗心还是概念错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0" y="1627632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容易直接代做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学生看懂答案不等于真正掌握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862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B5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产品切入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703320"/>
            <a:ext cx="7040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AI 放进学生每天真正发生的学习和作业流程里，而不是再做一个独立问答入口。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4645152"/>
            <a:ext cx="7040880" cy="694944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核心原则：先诊断，再讲解；先验证，再判断掌握。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产品功能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产品界面收敛为 4 个入口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2514600" cy="1828800"/>
          </a:xfrm>
          <a:prstGeom prst="rect">
            <a:avLst/>
          </a:prstGeom>
          <a:solidFill>
            <a:srgbClr val="E9F1FF"/>
          </a:solidFill>
          <a:ln w="12700">
            <a:solidFill>
              <a:srgbClr val="E9F1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 + 状态 + 摘要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回答“我现在该做什么”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264408" y="2258568"/>
            <a:ext cx="347472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474720" y="1353312"/>
            <a:ext cx="2514600" cy="1828800"/>
          </a:xfrm>
          <a:prstGeom prst="rect">
            <a:avLst/>
          </a:prstGeom>
          <a:solidFill>
            <a:srgbClr val="E9F8F1"/>
          </a:solidFill>
          <a:ln w="12700">
            <a:solidFill>
              <a:srgbClr val="E9F8F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 + Chat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教材/讲义/AI 讲解在一个上下文中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53328" y="2258568"/>
            <a:ext cx="347472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263640" y="1353312"/>
            <a:ext cx="2514600" cy="1828800"/>
          </a:xfrm>
          <a:prstGeom prst="rect">
            <a:avLst/>
          </a:prstGeom>
          <a:solidFill>
            <a:srgbClr val="FFF3E7"/>
          </a:solidFill>
          <a:ln w="12700">
            <a:solidFill>
              <a:srgbClr val="FFF3E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作答 + 答疑 + 批改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错误反馈和强化练习原地完成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842248" y="2258568"/>
            <a:ext cx="347472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052560" y="1353312"/>
            <a:ext cx="2514600" cy="1828800"/>
          </a:xfrm>
          <a:prstGeom prst="rect">
            <a:avLst/>
          </a:prstGeom>
          <a:solidFill>
            <a:srgbClr val="F2F0FF"/>
          </a:solidFill>
          <a:ln w="12700">
            <a:solidFill>
              <a:srgbClr val="F2F0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 + 状态 + 历史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低频管理，不打断主流程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3822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被删除的一级入口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224528"/>
            <a:ext cx="10698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Tutor / 错因诊断 / 知识图谱 / 错题本 / 练习 / 学习进度 / 教师反馈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17320" y="5257800"/>
            <a:ext cx="9235440" cy="512064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这些不是学生的一级任务，而是系统在首页、学习、作业三个场景中自动触发的能力。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界面示意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界面原型：计划、状态、摘要统一在首页</a:t>
            </a:r>
            <a:endParaRPr lang="en-US" sz="2700" dirty="0"/>
          </a:p>
        </p:txBody>
      </p:sp>
      <p:pic>
        <p:nvPicPr>
          <p:cNvPr id="4" name="Image 0" descr="/mnt/data/a_clean_ui_dashboard_screenshot_mockup_with_a_li.png">    </p:cNvPr>
          <p:cNvPicPr>
            <a:picLocks noChangeAspect="1"/>
          </p:cNvPicPr>
          <p:nvPr/>
        </p:nvPicPr>
        <p:blipFill>
          <a:blip r:embed="rId1"/>
          <a:srcRect l="5090" r="5090" t="0" b="0"/>
          <a:stretch/>
        </p:blipFill>
        <p:spPr>
          <a:xfrm>
            <a:off x="685800" y="1143000"/>
            <a:ext cx="722376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1143000"/>
            <a:ext cx="2880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首页不是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只回答：今天做什么、当前怎么样、下一步建议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29600" y="2331720"/>
            <a:ext cx="2880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学习与作业是 Workspace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内容、聊天、提示、批改都在当前任务中完成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0" y="3520440"/>
            <a:ext cx="2880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智能能力隐藏在流程内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错因诊断、讲解、练习和状态更新自动发生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83880" y="4892040"/>
            <a:ext cx="2971800" cy="658368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视觉原型可根据品牌与实际 UI 继续调整；具体成员、Logo 和运行截图留待后续补充。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核心界面一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首页：计划 + 状态 + 摘要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874520"/>
            <a:ext cx="1371600" cy="347472"/>
          </a:xfrm>
          <a:prstGeom prst="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350008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825496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3300984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1430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今日计划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数学作业 25min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二次函数复习 20min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英语阅读 20min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[开始今日学习]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5440680" y="1143000"/>
            <a:ext cx="2834640" cy="18288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当前状态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 71%  本周 +6%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重点关注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几何辅助线 46%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二次函数参数a 63%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49640" y="1143000"/>
            <a:ext cx="2834640" cy="1828800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最近摘要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参数a：42% → 63%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昨天完成 4 个任务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 56 分钟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下一步：2 分钟延迟验证题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749040" y="3749040"/>
            <a:ext cx="1005840" cy="0"/>
          </a:xfrm>
          <a:prstGeom prst="line">
            <a:avLst/>
          </a:prstGeom>
          <a:noFill/>
          <a:ln w="17780">
            <a:solidFill>
              <a:srgbClr val="1665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3749040"/>
            <a:ext cx="1005840" cy="0"/>
          </a:xfrm>
          <a:prstGeom prst="line">
            <a:avLst/>
          </a:prstGeom>
          <a:noFill/>
          <a:ln w="17780">
            <a:solidFill>
              <a:srgbClr val="1665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011680" y="4389120"/>
            <a:ext cx="8046720" cy="658368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学生每天不用理解“功能在哪里”，只需要按首页建议进入下一项真实学习任务。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核心界面二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学习：阅读 + Chat 融合在一个上下文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874520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350008"/>
            <a:ext cx="1371600" cy="347472"/>
          </a:xfrm>
          <a:prstGeom prst="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825496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3300984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14300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学习内容 Reader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 PDF / 老师 PPT / 讲义 / AI生成说明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当前选中：|a| 越大，图像越窄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[解释] [举例] [画图] [出题]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720840" y="1143000"/>
            <a:ext cx="4114800" cy="292608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学习助手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已知当前章节：二次函数 · 参数a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已知学生状态：参数a掌握度 63%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AI：这段重点是区分“a的正负”和“|a|大小”。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[向 AI 提问]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2331720" y="4572000"/>
            <a:ext cx="8503920" cy="713232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设计关键：AI 不是外部聊天框，而是随时知道当前阅读内容、课程上下文和学生状态的学习助手。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核心界面三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作业：答疑、讲解、批改在一份作业里完成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874520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350008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825496"/>
            <a:ext cx="1371600" cy="347472"/>
          </a:xfrm>
          <a:prstGeom prst="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3300984"/>
            <a:ext cx="1371600" cy="347472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143000"/>
            <a:ext cx="10515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题目列表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4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0440" y="114300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当前题目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已知二次函数 y=ax²+bx+c 的图像开口向下。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你的解答：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[提交答案]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1143000"/>
            <a:ext cx="3429000" cy="292608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辅导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需要提示吗？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提示1：先回忆 y=x² 与 y=-x² 的开口方向。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不会直接给答案，先帮助学生自己完成。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4572000"/>
            <a:ext cx="8595360" cy="713232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完成后生成作业摘要：正确率、主要错因、推荐补强、错题历史，不再单独做“错题本”一级入口。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Demo 主线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核心闭环：一道错题如何改变学习状态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417320" cy="9144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学生提交答案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93392" y="2286000"/>
            <a:ext cx="384048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76272" y="1828800"/>
            <a:ext cx="1417320" cy="9144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判断为什么错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21024" y="2286000"/>
            <a:ext cx="384048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03904" y="1828800"/>
            <a:ext cx="1417320" cy="9144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按学生状态换讲法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48656" y="2286000"/>
            <a:ext cx="384048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31536" y="1828800"/>
            <a:ext cx="1417320" cy="9144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生成针对题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76288" y="2286000"/>
            <a:ext cx="384048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059168" y="1828800"/>
            <a:ext cx="1417320" cy="9144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迁移题确认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2286000"/>
            <a:ext cx="384048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6800" y="1828800"/>
            <a:ext cx="1417320" cy="9144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Learner State 改变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31552" y="2286000"/>
            <a:ext cx="384048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314432" y="1828800"/>
            <a:ext cx="1417320" cy="9144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首页重新安排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45920" y="3977640"/>
            <a:ext cx="8869680" cy="932688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示例结果：二次函数参数 a 掌握度 42% → 63%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作业错误转化为证据，证据驱动下一轮计划，而不是一次聊天结束。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技术方案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架构与关键能力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663440" y="1170432"/>
            <a:ext cx="2834640" cy="502920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Learning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938528"/>
            <a:ext cx="1691640" cy="6858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learning-plan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计划生成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560320" y="1938528"/>
            <a:ext cx="1691640" cy="6858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homework-coach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作业辅导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434840" y="1938528"/>
            <a:ext cx="1691640" cy="6858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error-diagnosis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错因诊断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309360" y="1938528"/>
            <a:ext cx="1691640" cy="6858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personal-explain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个性讲解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183880" y="1938528"/>
            <a:ext cx="1691640" cy="68580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adaptive-practice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针对练习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058400" y="1938528"/>
            <a:ext cx="1691640" cy="68580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mistake-summary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错题摘要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Learner State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54680" y="333756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 / RAG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03520" y="333756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Bank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2360" y="333756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Mastery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0" y="333756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 Memory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4828032"/>
            <a:ext cx="9875520" cy="566928"/>
          </a:xfrm>
          <a:prstGeom prst="rect">
            <a:avLst/>
          </a:prstGeom>
          <a:solidFill>
            <a:srgbClr val="F2F0FF"/>
          </a:solidFill>
          <a:ln w="12700">
            <a:solidFill>
              <a:srgbClr val="D7D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关键能力：上下文学习、分层提示、诊断假设、证据化掌握度、作业批改、下一步计划。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数据与工程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数据来源、工具调用与技术路线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291840" cy="361188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教材/讲义/PPT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题库与答案解析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学生作答记录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 Session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错因与提示使用记录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89120" y="1325880"/>
            <a:ext cx="3291840" cy="361188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工具调用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知识检索 RAG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题目解析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作答批改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诊断题生成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Mastery 更新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计划重排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0" y="1325880"/>
            <a:ext cx="3291840" cy="3611880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技术路线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Web/Tablet 前端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Agent Runtime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模块化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PostgreSQL + pgvector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DeepTutor/ADK 兼容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5303520"/>
            <a:ext cx="9372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070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不明确项留空：具体模型、部署环境、真实教材授权、Demo 数据集与视频链接后续补充。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待补充运行材料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运行结果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计划展示的 Demo 闭环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首页建议学习 → 作业答错 → AI 诊断 → 个性化讲解 → 3 道针对练习 → 迁移验证 → 掌握度更新 → 首页计划重排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234440"/>
            <a:ext cx="4572000" cy="196596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运行结果占位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视频链接：待填写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运行截图：待填写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Pre/Post 正确率：待填写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诊断准确率：待填写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提示泄露率：待填写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建议最终提交指标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2468880" cy="73152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Gain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学习前后正确率提升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4297680"/>
            <a:ext cx="2468880" cy="731520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Diagnosis 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错因是否准确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4297680"/>
            <a:ext cx="2468880" cy="73152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Grounding 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讲解是否有教材依据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0" y="4297680"/>
            <a:ext cx="2468880" cy="7315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2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Hint Leakage 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是否过早给答案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风险控制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安全合规边界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3429000" cy="96012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不代写作业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默认分层提示，先方向、再知识点、再关键步骤，最后才允许完整解析。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4434840" y="1143000"/>
            <a:ext cx="3429000" cy="96012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未成年人数据最小化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只收集学习必要信息；学习记录、错因、资料与账号隔离存储。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8138160" y="1143000"/>
            <a:ext cx="3429000" cy="96012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不做持续摄像头监控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不以人脸/眼动作为核心；使用学习行为和答题证据判断状态。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429000" cy="96012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讲解可追溯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重要知识说明尽量引用教材、讲义或题目来源；避免无来源结论。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434840" y="2560320"/>
            <a:ext cx="3429000" cy="96012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辅助边界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学习建议不替代教师判断；家长/教师端只展示学习摘要，不展示过度监控日志。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38160" y="2560320"/>
            <a:ext cx="3429000" cy="960120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待补充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正式上线前补充隐私政策、内容安全策略、数据授权说明。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可复用资产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 / 复用贡献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337560" cy="1325880"/>
          </a:xfrm>
          <a:prstGeom prst="rect">
            <a:avLst/>
          </a:prstGeom>
          <a:solidFill>
            <a:srgbClr val="E9F1FF"/>
          </a:solidFill>
          <a:ln w="12700">
            <a:solidFill>
              <a:srgbClr val="C9D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Learner State Schema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学生知识状态、证据、错因、提示使用、复习时间的统一结构。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34840" y="1417320"/>
            <a:ext cx="3337560" cy="1325880"/>
          </a:xfrm>
          <a:prstGeom prst="rect">
            <a:avLst/>
          </a:prstGeom>
          <a:solidFill>
            <a:srgbClr val="E9F8F1"/>
          </a:solidFill>
          <a:ln w="12700">
            <a:solidFill>
              <a:srgbClr val="CDE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Education Skills Templates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learning-plan、homework-coach、error-diagnosis、personal-explain、adaptive-practice。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1417320"/>
            <a:ext cx="3337560" cy="1325880"/>
          </a:xfrm>
          <a:prstGeom prst="rect">
            <a:avLst/>
          </a:prstGeom>
          <a:solidFill>
            <a:srgbClr val="FFF3E7"/>
          </a:solidFill>
          <a:ln w="12700">
            <a:solidFill>
              <a:srgbClr val="FFD3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Agent Eval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用于验证错因诊断、提示泄露率、学习前后提升的示例数据与评测脚本。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3794760"/>
            <a:ext cx="9555480" cy="658368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复用价值：同一套 Agent Runtime + Skills 可以扩展到英语、物理、职业培训，也可以被教育机构或硬件厂商集成。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后续计划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运营与商业化路径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606040" cy="1051560"/>
          </a:xfrm>
          <a:prstGeom prst="rect">
            <a:avLst/>
          </a:prstGeom>
          <a:solidFill>
            <a:srgbClr val="E9F1FF"/>
          </a:solidFill>
          <a:ln w="12700">
            <a:solidFill>
              <a:srgbClr val="D9E3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免费错因体检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5-10 道错题，生成学习问题报告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01568" y="1947672"/>
            <a:ext cx="301752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657600" y="1417320"/>
            <a:ext cx="2606040" cy="1051560"/>
          </a:xfrm>
          <a:prstGeom prst="rect">
            <a:avLst/>
          </a:prstGeom>
          <a:solidFill>
            <a:srgbClr val="E9F8F1"/>
          </a:solidFill>
          <a:ln w="12700">
            <a:solidFill>
              <a:srgbClr val="D9E3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天学习计划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根据报告自动生成短周期补弱计划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7648" y="1947672"/>
            <a:ext cx="301752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583680" y="1417320"/>
            <a:ext cx="2606040" cy="1051560"/>
          </a:xfrm>
          <a:prstGeom prst="rect">
            <a:avLst/>
          </a:prstGeom>
          <a:solidFill>
            <a:srgbClr val="FFF3E7"/>
          </a:solidFill>
          <a:ln w="12700">
            <a:solidFill>
              <a:srgbClr val="D9E3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 订阅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 Learner State、作业辅导、练习与报告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53728" y="1947672"/>
            <a:ext cx="301752" cy="0"/>
          </a:xfrm>
          <a:prstGeom prst="line">
            <a:avLst/>
          </a:prstGeom>
          <a:noFill/>
          <a:ln w="17780">
            <a:solidFill>
              <a:srgbClr val="8490A3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509760" y="1417320"/>
            <a:ext cx="2606040" cy="1051560"/>
          </a:xfrm>
          <a:prstGeom prst="rect">
            <a:avLst/>
          </a:prstGeom>
          <a:solidFill>
            <a:srgbClr val="F2F0FF"/>
          </a:solidFill>
          <a:ln w="12700">
            <a:solidFill>
              <a:srgbClr val="D9E3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 / OEM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教育机构工作台、学习硬件厂商 SDK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短期目标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完成二次函数 Demo、作品视频、评测样例。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977640" y="3246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中期目标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扩展初中数学核心章节，接入真实题库与教材授权。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3246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对接需求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模型/算力、课程资源、学校/机构试点、平板渠道。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4937760"/>
            <a:ext cx="9418320" cy="502920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待填写：团队信息、真实客户访谈、Demo 链接、合作方资源与具体融资/试点需求。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8B3C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待填写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Learning OS 作品简介</dc:title>
  <dc:subject>GOAI Boundless Agents entry brief</dc:subject>
  <dc:creator>OpenAI</dc:creator>
  <cp:lastModifiedBy>OpenAI</cp:lastModifiedBy>
  <cp:revision>1</cp:revision>
  <dcterms:created xsi:type="dcterms:W3CDTF">2026-08-10T13:51:20Z</dcterms:created>
  <dcterms:modified xsi:type="dcterms:W3CDTF">2026-08-10T13:51:20Z</dcterms:modified>
</cp:coreProperties>
</file>